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8" r:id="rId2"/>
    <p:sldId id="259" r:id="rId3"/>
    <p:sldId id="260" r:id="rId4"/>
    <p:sldId id="261" r:id="rId5"/>
    <p:sldId id="263" r:id="rId6"/>
    <p:sldId id="266" r:id="rId7"/>
    <p:sldId id="264" r:id="rId8"/>
    <p:sldId id="265"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3" d="100"/>
          <a:sy n="73" d="100"/>
        </p:scale>
        <p:origin x="150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73E726-1842-46B9-B076-E7310C828E1D}" type="datetimeFigureOut">
              <a:rPr lang="en-US" smtClean="0"/>
              <a:t>9/29/2025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4522D-838D-4E5F-B9E3-9DA148740E6F}" type="slidenum">
              <a:rPr lang="en-US" smtClean="0"/>
              <a:t>‹#›</a:t>
            </a:fld>
            <a:endParaRPr lang="en-US"/>
          </a:p>
        </p:txBody>
      </p:sp>
    </p:spTree>
    <p:extLst>
      <p:ext uri="{BB962C8B-B14F-4D97-AF65-F5344CB8AC3E}">
        <p14:creationId xmlns:p14="http://schemas.microsoft.com/office/powerpoint/2010/main" val="2033513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2B5FF8-C71B-4DD5-8E57-1DFE9926F6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1897261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B5FF8-C71B-4DD5-8E57-1DFE9926F6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893498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2B5FF8-C71B-4DD5-8E57-1DFE9926F6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1631347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2B5FF8-C71B-4DD5-8E57-1DFE9926F6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633647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2B5FF8-C71B-4DD5-8E57-1DFE9926F653}"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1572463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2B5FF8-C71B-4DD5-8E57-1DFE9926F653}"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2539189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2B5FF8-C71B-4DD5-8E57-1DFE9926F653}"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2342633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2B5FF8-C71B-4DD5-8E57-1DFE9926F6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912937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2B5FF8-C71B-4DD5-8E57-1DFE9926F6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673790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B5FF8-C71B-4DD5-8E57-1DFE9926F6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3661654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2B5FF8-C71B-4DD5-8E57-1DFE9926F6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41765F-36D5-467C-A999-42D0AEE4CF14}" type="slidenum">
              <a:rPr lang="en-US" smtClean="0"/>
              <a:t>‹#›</a:t>
            </a:fld>
            <a:endParaRPr lang="en-US"/>
          </a:p>
        </p:txBody>
      </p:sp>
    </p:spTree>
    <p:extLst>
      <p:ext uri="{BB962C8B-B14F-4D97-AF65-F5344CB8AC3E}">
        <p14:creationId xmlns:p14="http://schemas.microsoft.com/office/powerpoint/2010/main" val="880232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B5FF8-C71B-4DD5-8E57-1DFE9926F653}" type="datetimeFigureOut">
              <a:rPr lang="en-US" smtClean="0"/>
              <a:t>9/29/2025</a:t>
            </a:fld>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41765F-36D5-467C-A999-42D0AEE4CF14}" type="slidenum">
              <a:rPr lang="en-US" smtClean="0"/>
              <a:t>‹#›</a:t>
            </a:fld>
            <a:endParaRPr lang="en-US"/>
          </a:p>
        </p:txBody>
      </p:sp>
    </p:spTree>
    <p:extLst>
      <p:ext uri="{BB962C8B-B14F-4D97-AF65-F5344CB8AC3E}">
        <p14:creationId xmlns:p14="http://schemas.microsoft.com/office/powerpoint/2010/main" val="33947707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62F5-D757-3022-DDA7-D2777117EFBA}"/>
              </a:ext>
            </a:extLst>
          </p:cNvPr>
          <p:cNvSpPr>
            <a:spLocks noGrp="1"/>
          </p:cNvSpPr>
          <p:nvPr>
            <p:ph type="title"/>
          </p:nvPr>
        </p:nvSpPr>
        <p:spPr>
          <a:xfrm>
            <a:off x="3049030" y="435335"/>
            <a:ext cx="3496701" cy="548843"/>
          </a:xfrm>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dirty="0">
                <a:latin typeface="Times New Roman" panose="02020603050405020304" pitchFamily="18" charset="0"/>
                <a:cs typeface="Times New Roman" panose="02020603050405020304" pitchFamily="18" charset="0"/>
              </a:rPr>
              <a:t>Outline</a:t>
            </a:r>
            <a:r>
              <a:rPr lang="en-US" dirty="0"/>
              <a:t> </a:t>
            </a:r>
          </a:p>
        </p:txBody>
      </p:sp>
      <p:sp>
        <p:nvSpPr>
          <p:cNvPr id="3" name="Content Placeholder 2">
            <a:extLst>
              <a:ext uri="{FF2B5EF4-FFF2-40B4-BE49-F238E27FC236}">
                <a16:creationId xmlns:a16="http://schemas.microsoft.com/office/drawing/2014/main" id="{F1C8BDE6-18D6-8B54-C789-5F0D2831AED8}"/>
              </a:ext>
            </a:extLst>
          </p:cNvPr>
          <p:cNvSpPr>
            <a:spLocks noGrp="1"/>
          </p:cNvSpPr>
          <p:nvPr>
            <p:ph idx="1"/>
          </p:nvPr>
        </p:nvSpPr>
        <p:spPr>
          <a:xfrm>
            <a:off x="628650" y="1427287"/>
            <a:ext cx="7886700" cy="4659613"/>
          </a:xfrm>
        </p:spPr>
        <p:txBody>
          <a:bodyPr>
            <a:normAutofit fontScale="92500" lnSpcReduction="10000"/>
          </a:bodyPr>
          <a:lstStyle/>
          <a:p>
            <a:pPr marL="0" indent="0">
              <a:spcBef>
                <a:spcPts val="0"/>
              </a:spcBef>
              <a:buNone/>
            </a:pPr>
            <a:r>
              <a:rPr lang="en-US" dirty="0" smtClean="0">
                <a:latin typeface="Times New Roman" panose="02020603050405020304" pitchFamily="18" charset="0"/>
                <a:cs typeface="Times New Roman" panose="02020603050405020304" pitchFamily="18" charset="0"/>
              </a:rPr>
              <a:t>1- Introduction </a:t>
            </a:r>
            <a:endParaRPr lang="en-US" dirty="0">
              <a:latin typeface="Times New Roman" panose="02020603050405020304" pitchFamily="18" charset="0"/>
              <a:cs typeface="Times New Roman" panose="02020603050405020304" pitchFamily="18" charset="0"/>
            </a:endParaRPr>
          </a:p>
          <a:p>
            <a:pPr marL="0" indent="0">
              <a:spcBef>
                <a:spcPts val="0"/>
              </a:spcBef>
              <a:buNone/>
            </a:pP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a:latin typeface="Times New Roman" panose="02020603050405020304" pitchFamily="18" charset="0"/>
                <a:cs typeface="Times New Roman" panose="02020603050405020304" pitchFamily="18" charset="0"/>
              </a:rPr>
              <a:t>2- Objective </a:t>
            </a:r>
          </a:p>
          <a:p>
            <a:pPr marL="0" indent="0">
              <a:spcBef>
                <a:spcPts val="0"/>
              </a:spcBef>
              <a:buNone/>
            </a:pP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smtClean="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Main problem of the </a:t>
            </a:r>
            <a:r>
              <a:rPr lang="en-US" dirty="0" smtClean="0">
                <a:latin typeface="Times New Roman" panose="02020603050405020304" pitchFamily="18" charset="0"/>
                <a:cs typeface="Times New Roman" panose="02020603050405020304" pitchFamily="18" charset="0"/>
              </a:rPr>
              <a:t>project</a:t>
            </a:r>
          </a:p>
          <a:p>
            <a:pPr marL="0" indent="0">
              <a:spcBef>
                <a:spcPts val="0"/>
              </a:spcBef>
              <a:buNone/>
            </a:pP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smtClean="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Suggestion to solve the problem  </a:t>
            </a:r>
          </a:p>
          <a:p>
            <a:pPr marL="0" indent="0">
              <a:spcBef>
                <a:spcPts val="0"/>
              </a:spcBef>
              <a:buNone/>
            </a:pP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smtClean="0">
                <a:latin typeface="Times New Roman" panose="02020603050405020304" pitchFamily="18" charset="0"/>
                <a:cs typeface="Times New Roman" panose="02020603050405020304" pitchFamily="18" charset="0"/>
              </a:rPr>
              <a:t>5- Results</a:t>
            </a:r>
            <a:endParaRPr lang="en-US" dirty="0">
              <a:latin typeface="Times New Roman" panose="02020603050405020304" pitchFamily="18" charset="0"/>
              <a:cs typeface="Times New Roman" panose="02020603050405020304" pitchFamily="18" charset="0"/>
            </a:endParaRPr>
          </a:p>
          <a:p>
            <a:pPr marL="0" indent="0">
              <a:spcBef>
                <a:spcPts val="0"/>
              </a:spcBef>
              <a:buNone/>
            </a:pP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smtClean="0">
                <a:latin typeface="Times New Roman" panose="02020603050405020304" pitchFamily="18" charset="0"/>
                <a:cs typeface="Times New Roman" panose="02020603050405020304" pitchFamily="18" charset="0"/>
              </a:rPr>
              <a:t>6- Aim of the project</a:t>
            </a:r>
            <a:endParaRPr lang="en-US" dirty="0">
              <a:latin typeface="Times New Roman" panose="02020603050405020304" pitchFamily="18" charset="0"/>
              <a:cs typeface="Times New Roman" panose="02020603050405020304" pitchFamily="18" charset="0"/>
            </a:endParaRPr>
          </a:p>
          <a:p>
            <a:pPr marL="0" indent="0">
              <a:spcBef>
                <a:spcPts val="0"/>
              </a:spcBef>
              <a:buNone/>
            </a:pPr>
            <a:endParaRPr lang="en-US" dirty="0">
              <a:latin typeface="Times New Roman" panose="02020603050405020304" pitchFamily="18" charset="0"/>
              <a:cs typeface="Times New Roman" panose="02020603050405020304" pitchFamily="18" charset="0"/>
            </a:endParaRPr>
          </a:p>
          <a:p>
            <a:pPr marL="0" indent="0">
              <a:spcBef>
                <a:spcPts val="0"/>
              </a:spcBef>
              <a:buNone/>
            </a:pPr>
            <a:r>
              <a:rPr lang="en-US" dirty="0" smtClean="0">
                <a:latin typeface="Times New Roman" panose="02020603050405020304" pitchFamily="18" charset="0"/>
                <a:cs typeface="Times New Roman" panose="02020603050405020304" pitchFamily="18" charset="0"/>
              </a:rPr>
              <a:t>7- Future Work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0674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60CDC-64AC-18BD-2DF3-AFBC96BB6962}"/>
              </a:ext>
            </a:extLst>
          </p:cNvPr>
          <p:cNvSpPr>
            <a:spLocks noGrp="1"/>
          </p:cNvSpPr>
          <p:nvPr>
            <p:ph type="title"/>
          </p:nvPr>
        </p:nvSpPr>
        <p:spPr>
          <a:xfrm>
            <a:off x="2215662" y="280799"/>
            <a:ext cx="5118002" cy="591320"/>
          </a:xfrm>
          <a:ln/>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088F980A-AE72-5789-9057-CC184FEE1549}"/>
              </a:ext>
            </a:extLst>
          </p:cNvPr>
          <p:cNvSpPr>
            <a:spLocks noGrp="1"/>
          </p:cNvSpPr>
          <p:nvPr>
            <p:ph idx="1"/>
          </p:nvPr>
        </p:nvSpPr>
        <p:spPr>
          <a:xfrm>
            <a:off x="45280" y="1348877"/>
            <a:ext cx="4262951" cy="1222625"/>
          </a:xfrm>
        </p:spPr>
        <p:txBody>
          <a:bodyPr>
            <a:noAutofit/>
          </a:bodyPr>
          <a:lstStyle/>
          <a:p>
            <a:pPr marL="0" indent="0" algn="just">
              <a:lnSpc>
                <a:spcPct val="100000"/>
              </a:lnSpc>
              <a:buNone/>
            </a:pPr>
            <a:r>
              <a:rPr lang="en-US" sz="1800" dirty="0"/>
              <a:t>The integration of </a:t>
            </a:r>
            <a:r>
              <a:rPr lang="en-US" sz="1800" dirty="0" err="1"/>
              <a:t>IoT</a:t>
            </a:r>
            <a:r>
              <a:rPr lang="en-US" sz="1800" dirty="0"/>
              <a:t> and RFID has transformed patient monitoring by enabling real-time, continuous observation of vital signs. Traditional hospital systems lacked automation, often requiring constant nurse intervention. This project addresses that gap by proposing a smart, real-time system capable of detecting health anomalies and sending immediate alerts. The device continuously monitors temperature, heart rate, blood oxygen, and environmental conditions, improving response times in emergencies. </a:t>
            </a:r>
            <a:endParaRPr lang="en-US" sz="1200" dirty="0">
              <a:latin typeface="Times New Roman" panose="02020603050405020304" pitchFamily="18" charset="0"/>
              <a:cs typeface="Times New Roman" panose="02020603050405020304" pitchFamily="18" charset="0"/>
            </a:endParaRPr>
          </a:p>
        </p:txBody>
      </p:sp>
      <p:sp>
        <p:nvSpPr>
          <p:cNvPr id="4" name="Rectangle 3"/>
          <p:cNvSpPr/>
          <p:nvPr/>
        </p:nvSpPr>
        <p:spPr>
          <a:xfrm>
            <a:off x="45280" y="5833390"/>
            <a:ext cx="8808574" cy="338554"/>
          </a:xfrm>
          <a:prstGeom prst="rect">
            <a:avLst/>
          </a:prstGeom>
        </p:spPr>
        <p:txBody>
          <a:bodyPr wrap="square">
            <a:spAutoFit/>
          </a:bodyPr>
          <a:lstStyle/>
          <a:p>
            <a:pPr algn="just"/>
            <a:r>
              <a:rPr lang="en-US" sz="1600" b="1" dirty="0">
                <a:solidFill>
                  <a:srgbClr val="C00000"/>
                </a:solidFill>
              </a:rPr>
              <a:t>It also allows remote access to patient data through cloud storage, enhancing decision-making.</a:t>
            </a:r>
            <a:endParaRPr lang="en-US" sz="1100" b="1" dirty="0">
              <a:solidFill>
                <a:srgbClr val="C00000"/>
              </a:solidFill>
              <a:latin typeface="Times New Roman" panose="02020603050405020304" pitchFamily="18" charset="0"/>
              <a:cs typeface="Times New Roman" panose="02020603050405020304" pitchFamily="18" charset="0"/>
            </a:endParaRPr>
          </a:p>
        </p:txBody>
      </p:sp>
      <p:pic>
        <p:nvPicPr>
          <p:cNvPr id="6" name="Picture 5" descr="healthcare-10-00513-g00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567" y="1345539"/>
            <a:ext cx="4410075" cy="4014431"/>
          </a:xfrm>
          <a:prstGeom prst="rect">
            <a:avLst/>
          </a:prstGeom>
          <a:noFill/>
          <a:ln>
            <a:noFill/>
          </a:ln>
        </p:spPr>
      </p:pic>
    </p:spTree>
    <p:extLst>
      <p:ext uri="{BB962C8B-B14F-4D97-AF65-F5344CB8AC3E}">
        <p14:creationId xmlns:p14="http://schemas.microsoft.com/office/powerpoint/2010/main" val="303979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27F105-62B8-A6BF-4495-CC5A68F42C1D}"/>
              </a:ext>
            </a:extLst>
          </p:cNvPr>
          <p:cNvSpPr>
            <a:spLocks noGrp="1"/>
          </p:cNvSpPr>
          <p:nvPr>
            <p:ph type="title"/>
          </p:nvPr>
        </p:nvSpPr>
        <p:spPr>
          <a:xfrm>
            <a:off x="2140547" y="401203"/>
            <a:ext cx="5160206" cy="559667"/>
          </a:xfrm>
          <a:ln/>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dirty="0">
                <a:latin typeface="Times New Roman" panose="02020603050405020304" pitchFamily="18" charset="0"/>
                <a:cs typeface="Times New Roman" panose="02020603050405020304" pitchFamily="18" charset="0"/>
              </a:rPr>
              <a:t>Objective </a:t>
            </a:r>
          </a:p>
        </p:txBody>
      </p:sp>
      <p:sp>
        <p:nvSpPr>
          <p:cNvPr id="2" name="Rectangle 1"/>
          <p:cNvSpPr/>
          <p:nvPr/>
        </p:nvSpPr>
        <p:spPr>
          <a:xfrm>
            <a:off x="254977" y="1217501"/>
            <a:ext cx="8739554" cy="1077218"/>
          </a:xfrm>
          <a:prstGeom prst="rect">
            <a:avLst/>
          </a:prstGeom>
        </p:spPr>
        <p:txBody>
          <a:bodyPr wrap="square">
            <a:spAutoFit/>
          </a:bodyPr>
          <a:lstStyle/>
          <a:p>
            <a:pPr algn="just"/>
            <a:r>
              <a:rPr lang="en-US" sz="1600" dirty="0"/>
              <a:t>The primary objective of this project is to design a scalable, cost-effective, and real-time patient monitoring system that reduces manual workload and improves hospital efficiency. By employing wearable sensors and RFID technology, the system continuously tracks patients’ health metrics, alerts healthcare providers during emergencies, and ensures accurate patient identification. </a:t>
            </a:r>
          </a:p>
        </p:txBody>
      </p:sp>
      <p:sp>
        <p:nvSpPr>
          <p:cNvPr id="3" name="Rectangle 2"/>
          <p:cNvSpPr/>
          <p:nvPr/>
        </p:nvSpPr>
        <p:spPr>
          <a:xfrm>
            <a:off x="254977" y="5855789"/>
            <a:ext cx="8739554" cy="646331"/>
          </a:xfrm>
          <a:prstGeom prst="rect">
            <a:avLst/>
          </a:prstGeom>
        </p:spPr>
        <p:txBody>
          <a:bodyPr wrap="square">
            <a:spAutoFit/>
          </a:bodyPr>
          <a:lstStyle/>
          <a:p>
            <a:pPr algn="just"/>
            <a:r>
              <a:rPr lang="en-US" dirty="0"/>
              <a:t>This approach minimizes medical errors and improves safety. It also provides a real-time dashboard for clinicians and supports encrypted data sharing for remote access.</a:t>
            </a:r>
          </a:p>
        </p:txBody>
      </p:sp>
      <p:pic>
        <p:nvPicPr>
          <p:cNvPr id="6" name="Picture 5" descr="An-Intelligent-Real-Time-An-IoT-Based-System-for-Monitoring-ICU-Patient"/>
          <p:cNvPicPr/>
          <p:nvPr/>
        </p:nvPicPr>
        <p:blipFill>
          <a:blip r:embed="rId2">
            <a:extLst>
              <a:ext uri="{28A0092B-C50C-407E-A947-70E740481C1C}">
                <a14:useLocalDpi xmlns:a14="http://schemas.microsoft.com/office/drawing/2010/main" val="0"/>
              </a:ext>
            </a:extLst>
          </a:blip>
          <a:srcRect/>
          <a:stretch>
            <a:fillRect/>
          </a:stretch>
        </p:blipFill>
        <p:spPr bwMode="auto">
          <a:xfrm>
            <a:off x="1886316" y="2551350"/>
            <a:ext cx="5476875" cy="2838450"/>
          </a:xfrm>
          <a:prstGeom prst="rect">
            <a:avLst/>
          </a:prstGeom>
          <a:noFill/>
          <a:ln>
            <a:noFill/>
          </a:ln>
        </p:spPr>
      </p:pic>
    </p:spTree>
    <p:extLst>
      <p:ext uri="{BB962C8B-B14F-4D97-AF65-F5344CB8AC3E}">
        <p14:creationId xmlns:p14="http://schemas.microsoft.com/office/powerpoint/2010/main" val="18674020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319FA1-2193-C59A-793B-CF19D1C506BD}"/>
              </a:ext>
            </a:extLst>
          </p:cNvPr>
          <p:cNvSpPr>
            <a:spLocks noGrp="1"/>
          </p:cNvSpPr>
          <p:nvPr>
            <p:ph type="title"/>
          </p:nvPr>
        </p:nvSpPr>
        <p:spPr>
          <a:xfrm>
            <a:off x="2250391" y="369551"/>
            <a:ext cx="4643218" cy="622972"/>
          </a:xfrm>
          <a:ln/>
        </p:spPr>
        <p:style>
          <a:lnRef idx="1">
            <a:schemeClr val="accent5"/>
          </a:lnRef>
          <a:fillRef idx="2">
            <a:schemeClr val="accent5"/>
          </a:fillRef>
          <a:effectRef idx="1">
            <a:schemeClr val="accent5"/>
          </a:effectRef>
          <a:fontRef idx="minor">
            <a:schemeClr val="dk1"/>
          </a:fontRef>
        </p:style>
        <p:txBody>
          <a:bodyPr>
            <a:noAutofit/>
          </a:bodyPr>
          <a:lstStyle/>
          <a:p>
            <a:pPr algn="ctr"/>
            <a:r>
              <a:rPr lang="en-US" sz="2800" dirty="0"/>
              <a:t>Main Problem of the Project</a:t>
            </a:r>
            <a:endParaRPr lang="en-US" sz="2800"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149469" y="1292379"/>
            <a:ext cx="528901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00000"/>
              </a:lnSpc>
              <a:buNone/>
            </a:pPr>
            <a:r>
              <a:rPr lang="en-US" sz="1800" dirty="0"/>
              <a:t>Current hospital systems struggle with delayed responses, manual monitoring, misidentification of patients, and lack of environmental adaptation. Nurses face high workloads, and emergencies may go unnoticed. Traditional RFID lacks integration with health data, and many </a:t>
            </a:r>
            <a:r>
              <a:rPr lang="en-US" sz="1800" dirty="0" err="1"/>
              <a:t>IoT</a:t>
            </a:r>
            <a:r>
              <a:rPr lang="en-US" sz="1800" dirty="0"/>
              <a:t> setups suffer from poor security or scalability. </a:t>
            </a:r>
          </a:p>
        </p:txBody>
      </p:sp>
      <p:pic>
        <p:nvPicPr>
          <p:cNvPr id="7" name="Picture 6" descr="H:\FIREFOX\Data Collection.png"/>
          <p:cNvPicPr/>
          <p:nvPr/>
        </p:nvPicPr>
        <p:blipFill rotWithShape="1">
          <a:blip r:embed="rId2">
            <a:extLst>
              <a:ext uri="{28A0092B-C50C-407E-A947-70E740481C1C}">
                <a14:useLocalDpi xmlns:a14="http://schemas.microsoft.com/office/drawing/2010/main" val="0"/>
              </a:ext>
            </a:extLst>
          </a:blip>
          <a:srcRect l="37806" r="38672" b="386"/>
          <a:stretch/>
        </p:blipFill>
        <p:spPr bwMode="auto">
          <a:xfrm>
            <a:off x="5438482" y="1160585"/>
            <a:ext cx="3705518" cy="5389684"/>
          </a:xfrm>
          <a:prstGeom prst="rect">
            <a:avLst/>
          </a:prstGeom>
          <a:noFill/>
          <a:ln>
            <a:noFill/>
          </a:ln>
        </p:spPr>
      </p:pic>
      <p:sp>
        <p:nvSpPr>
          <p:cNvPr id="2" name="Rectangle 1"/>
          <p:cNvSpPr/>
          <p:nvPr/>
        </p:nvSpPr>
        <p:spPr>
          <a:xfrm>
            <a:off x="149468" y="5222520"/>
            <a:ext cx="5289013" cy="1200329"/>
          </a:xfrm>
          <a:prstGeom prst="rect">
            <a:avLst/>
          </a:prstGeom>
        </p:spPr>
        <p:txBody>
          <a:bodyPr wrap="square">
            <a:spAutoFit/>
          </a:bodyPr>
          <a:lstStyle/>
          <a:p>
            <a:pPr algn="just"/>
            <a:r>
              <a:rPr lang="en-US" b="1" dirty="0">
                <a:solidFill>
                  <a:srgbClr val="C00000"/>
                </a:solidFill>
              </a:rPr>
              <a:t>The problem tackled here is how to integrate all monitoring needs—vital signs, location, alerts—into one intelligent, secure, real-time system that supports scalability and remote access.</a:t>
            </a:r>
          </a:p>
        </p:txBody>
      </p:sp>
    </p:spTree>
    <p:extLst>
      <p:ext uri="{BB962C8B-B14F-4D97-AF65-F5344CB8AC3E}">
        <p14:creationId xmlns:p14="http://schemas.microsoft.com/office/powerpoint/2010/main" val="15296129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3E8838-57AD-C178-91E0-7A932528A4DC}"/>
              </a:ext>
            </a:extLst>
          </p:cNvPr>
          <p:cNvSpPr>
            <a:spLocks noGrp="1"/>
          </p:cNvSpPr>
          <p:nvPr>
            <p:ph type="title"/>
          </p:nvPr>
        </p:nvSpPr>
        <p:spPr>
          <a:xfrm>
            <a:off x="1919539" y="163574"/>
            <a:ext cx="5550584" cy="517463"/>
          </a:xfrm>
          <a:ln/>
        </p:spPr>
        <p:style>
          <a:lnRef idx="1">
            <a:schemeClr val="accent5"/>
          </a:lnRef>
          <a:fillRef idx="2">
            <a:schemeClr val="accent5"/>
          </a:fillRef>
          <a:effectRef idx="1">
            <a:schemeClr val="accent5"/>
          </a:effectRef>
          <a:fontRef idx="minor">
            <a:schemeClr val="dk1"/>
          </a:fontRef>
        </p:style>
        <p:txBody>
          <a:bodyPr>
            <a:noAutofit/>
          </a:bodyPr>
          <a:lstStyle/>
          <a:p>
            <a:pPr algn="ctr"/>
            <a:r>
              <a:rPr lang="en-US" sz="2800" dirty="0"/>
              <a:t>Suggestion to Solve the Problem</a:t>
            </a:r>
          </a:p>
        </p:txBody>
      </p:sp>
      <p:sp>
        <p:nvSpPr>
          <p:cNvPr id="2" name="Rectangle 1"/>
          <p:cNvSpPr/>
          <p:nvPr/>
        </p:nvSpPr>
        <p:spPr>
          <a:xfrm>
            <a:off x="281093" y="977849"/>
            <a:ext cx="8678270" cy="1754326"/>
          </a:xfrm>
          <a:prstGeom prst="rect">
            <a:avLst/>
          </a:prstGeom>
        </p:spPr>
        <p:txBody>
          <a:bodyPr wrap="square">
            <a:spAutoFit/>
          </a:bodyPr>
          <a:lstStyle/>
          <a:p>
            <a:pPr algn="just"/>
            <a:r>
              <a:rPr lang="en-US" dirty="0"/>
              <a:t>The solution integrates </a:t>
            </a:r>
            <a:r>
              <a:rPr lang="en-US" dirty="0" err="1"/>
              <a:t>IoT</a:t>
            </a:r>
            <a:r>
              <a:rPr lang="en-US" dirty="0"/>
              <a:t> sensors (heart rate, temperature, </a:t>
            </a:r>
            <a:r>
              <a:rPr lang="en-US" dirty="0" err="1"/>
              <a:t>SpO</a:t>
            </a:r>
            <a:r>
              <a:rPr lang="en-US" dirty="0"/>
              <a:t>₂) and RFID tags with secure cloud infrastructure. An Arduino-based microcontroller (ESP-32) collects, encrypts, and transmits data via Wi-Fi. RFID ensures patient identification and location tracking. Alerts are automatically triggered for abnormal vitals. Data is hashed with SHA-256 and encrypted with AES-128 to protect integrity. A centralized dashboard displays real-time data for healthcare providers, improving response times and reducing workload.</a:t>
            </a:r>
          </a:p>
        </p:txBody>
      </p:sp>
      <p:pic>
        <p:nvPicPr>
          <p:cNvPr id="6" name="Picture 5" descr="photo_2025-02-07_22-38-06"/>
          <p:cNvPicPr/>
          <p:nvPr/>
        </p:nvPicPr>
        <p:blipFill rotWithShape="1">
          <a:blip r:embed="rId2">
            <a:extLst>
              <a:ext uri="{28A0092B-C50C-407E-A947-70E740481C1C}">
                <a14:useLocalDpi xmlns:a14="http://schemas.microsoft.com/office/drawing/2010/main" val="0"/>
              </a:ext>
            </a:extLst>
          </a:blip>
          <a:srcRect l="8826" b="26471"/>
          <a:stretch/>
        </p:blipFill>
        <p:spPr bwMode="auto">
          <a:xfrm>
            <a:off x="281094" y="3028987"/>
            <a:ext cx="3974384" cy="2714662"/>
          </a:xfrm>
          <a:prstGeom prst="rect">
            <a:avLst/>
          </a:prstGeom>
          <a:noFill/>
          <a:ln>
            <a:noFill/>
          </a:ln>
        </p:spPr>
      </p:pic>
      <p:pic>
        <p:nvPicPr>
          <p:cNvPr id="7" name="Picture 6" descr="photo_2025-02-07_22-37-54"/>
          <p:cNvPicPr/>
          <p:nvPr/>
        </p:nvPicPr>
        <p:blipFill rotWithShape="1">
          <a:blip r:embed="rId3">
            <a:extLst>
              <a:ext uri="{28A0092B-C50C-407E-A947-70E740481C1C}">
                <a14:useLocalDpi xmlns:a14="http://schemas.microsoft.com/office/drawing/2010/main" val="0"/>
              </a:ext>
            </a:extLst>
          </a:blip>
          <a:srcRect t="3076"/>
          <a:stretch/>
        </p:blipFill>
        <p:spPr bwMode="auto">
          <a:xfrm>
            <a:off x="5152292" y="3112477"/>
            <a:ext cx="3481755" cy="2631172"/>
          </a:xfrm>
          <a:prstGeom prst="rect">
            <a:avLst/>
          </a:prstGeom>
          <a:noFill/>
          <a:ln>
            <a:noFill/>
          </a:ln>
        </p:spPr>
      </p:pic>
      <p:sp>
        <p:nvSpPr>
          <p:cNvPr id="8" name="Rectangle 7"/>
          <p:cNvSpPr/>
          <p:nvPr/>
        </p:nvSpPr>
        <p:spPr>
          <a:xfrm>
            <a:off x="747940" y="5855795"/>
            <a:ext cx="2478243" cy="369332"/>
          </a:xfrm>
          <a:prstGeom prst="rect">
            <a:avLst/>
          </a:prstGeom>
        </p:spPr>
        <p:txBody>
          <a:bodyPr wrap="none">
            <a:spAutoFit/>
          </a:bodyPr>
          <a:lstStyle/>
          <a:p>
            <a:r>
              <a:rPr lang="en-US" b="1" dirty="0">
                <a:solidFill>
                  <a:srgbClr val="C00000"/>
                </a:solidFill>
                <a:latin typeface="Times New Roman" panose="02020603050405020304" pitchFamily="18" charset="0"/>
                <a:ea typeface="Aptos"/>
              </a:rPr>
              <a:t>main server and circuit</a:t>
            </a:r>
            <a:endParaRPr lang="en-US" dirty="0">
              <a:solidFill>
                <a:srgbClr val="C00000"/>
              </a:solidFill>
            </a:endParaRPr>
          </a:p>
        </p:txBody>
      </p:sp>
      <p:sp>
        <p:nvSpPr>
          <p:cNvPr id="9" name="Rectangle 8"/>
          <p:cNvSpPr/>
          <p:nvPr/>
        </p:nvSpPr>
        <p:spPr>
          <a:xfrm>
            <a:off x="5171064" y="5855795"/>
            <a:ext cx="3444212" cy="385042"/>
          </a:xfrm>
          <a:prstGeom prst="rect">
            <a:avLst/>
          </a:prstGeom>
        </p:spPr>
        <p:txBody>
          <a:bodyPr wrap="none">
            <a:spAutoFit/>
          </a:bodyPr>
          <a:lstStyle/>
          <a:p>
            <a:pPr algn="ctr">
              <a:lnSpc>
                <a:spcPct val="115000"/>
              </a:lnSpc>
              <a:spcAft>
                <a:spcPts val="800"/>
              </a:spcAft>
            </a:pPr>
            <a:r>
              <a:rPr lang="en-US" b="1" kern="100" dirty="0">
                <a:solidFill>
                  <a:srgbClr val="C00000"/>
                </a:solidFill>
                <a:latin typeface="Times New Roman" panose="02020603050405020304" pitchFamily="18" charset="0"/>
                <a:ea typeface="Aptos"/>
                <a:cs typeface="Arial" panose="020B0604020202020204" pitchFamily="34" charset="0"/>
              </a:rPr>
              <a:t>circuit of </a:t>
            </a:r>
            <a:r>
              <a:rPr lang="en-US" b="1" kern="100" dirty="0" smtClean="0">
                <a:solidFill>
                  <a:srgbClr val="C00000"/>
                </a:solidFill>
                <a:latin typeface="Times New Roman" panose="02020603050405020304" pitchFamily="18" charset="0"/>
                <a:ea typeface="Aptos"/>
                <a:cs typeface="Arial" panose="020B0604020202020204" pitchFamily="34" charset="0"/>
              </a:rPr>
              <a:t>first and second </a:t>
            </a:r>
            <a:r>
              <a:rPr lang="en-US" b="1" kern="100" dirty="0">
                <a:solidFill>
                  <a:srgbClr val="C00000"/>
                </a:solidFill>
                <a:latin typeface="Times New Roman" panose="02020603050405020304" pitchFamily="18" charset="0"/>
                <a:ea typeface="Aptos"/>
                <a:cs typeface="Arial" panose="020B0604020202020204" pitchFamily="34" charset="0"/>
              </a:rPr>
              <a:t>patient</a:t>
            </a:r>
            <a:endParaRPr lang="en-US" sz="1600" kern="100" dirty="0">
              <a:solidFill>
                <a:srgbClr val="C00000"/>
              </a:solidFill>
              <a:effectLst/>
              <a:latin typeface="Aptos"/>
              <a:ea typeface="Aptos"/>
              <a:cs typeface="Arial" panose="020B0604020202020204" pitchFamily="34" charset="0"/>
            </a:endParaRPr>
          </a:p>
        </p:txBody>
      </p:sp>
    </p:spTree>
    <p:extLst>
      <p:ext uri="{BB962C8B-B14F-4D97-AF65-F5344CB8AC3E}">
        <p14:creationId xmlns:p14="http://schemas.microsoft.com/office/powerpoint/2010/main" val="42163125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8082C37-4991-E4E6-FC6A-8F2638EED621}"/>
              </a:ext>
            </a:extLst>
          </p:cNvPr>
          <p:cNvSpPr>
            <a:spLocks noGrp="1"/>
          </p:cNvSpPr>
          <p:nvPr>
            <p:ph type="title"/>
          </p:nvPr>
        </p:nvSpPr>
        <p:spPr>
          <a:xfrm>
            <a:off x="2868050" y="218323"/>
            <a:ext cx="3475601" cy="591320"/>
          </a:xfrm>
          <a:ln/>
        </p:spPr>
        <p:style>
          <a:lnRef idx="1">
            <a:schemeClr val="accent5"/>
          </a:lnRef>
          <a:fillRef idx="2">
            <a:schemeClr val="accent5"/>
          </a:fillRef>
          <a:effectRef idx="1">
            <a:schemeClr val="accent5"/>
          </a:effectRef>
          <a:fontRef idx="minor">
            <a:schemeClr val="dk1"/>
          </a:fontRef>
        </p:style>
        <p:txBody>
          <a:bodyPr>
            <a:noAutofit/>
          </a:bodyPr>
          <a:lstStyle/>
          <a:p>
            <a:pPr algn="ctr">
              <a:spcBef>
                <a:spcPts val="0"/>
              </a:spcBef>
            </a:pPr>
            <a:r>
              <a:rPr lang="en-US" sz="2800" dirty="0"/>
              <a:t>Results</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5C7B46-479E-225C-F5D1-CDE02D4356C3}"/>
              </a:ext>
            </a:extLst>
          </p:cNvPr>
          <p:cNvSpPr>
            <a:spLocks noGrp="1"/>
          </p:cNvSpPr>
          <p:nvPr>
            <p:ph idx="1"/>
          </p:nvPr>
        </p:nvSpPr>
        <p:spPr>
          <a:xfrm>
            <a:off x="662500" y="980771"/>
            <a:ext cx="8084526" cy="1322814"/>
          </a:xfrm>
        </p:spPr>
        <p:txBody>
          <a:bodyPr>
            <a:normAutofit/>
          </a:bodyPr>
          <a:lstStyle/>
          <a:p>
            <a:pPr marL="0" indent="0" algn="just">
              <a:buNone/>
            </a:pPr>
            <a:r>
              <a:rPr lang="en-US" sz="1600" dirty="0"/>
              <a:t>The system was successfully implemented and tested with real patient data. It accurately collected heart rate, temperature, and oxygen levels, transmitted securely to cloud storage, and displayed on a real-time dashboard. RFID tags were effectively used for patient identification. Emergency alerts were sent automatically when thresholds were exceeded. The system reduced manual intervention, increased monitoring accuracy, and improved response times.</a:t>
            </a:r>
          </a:p>
        </p:txBody>
      </p:sp>
      <p:pic>
        <p:nvPicPr>
          <p:cNvPr id="7" name="Picture 6" descr="photo_2025-04-25_02-38-28"/>
          <p:cNvPicPr/>
          <p:nvPr/>
        </p:nvPicPr>
        <p:blipFill>
          <a:blip r:embed="rId2">
            <a:extLst>
              <a:ext uri="{28A0092B-C50C-407E-A947-70E740481C1C}">
                <a14:useLocalDpi xmlns:a14="http://schemas.microsoft.com/office/drawing/2010/main" val="0"/>
              </a:ext>
            </a:extLst>
          </a:blip>
          <a:srcRect/>
          <a:stretch>
            <a:fillRect/>
          </a:stretch>
        </p:blipFill>
        <p:spPr bwMode="auto">
          <a:xfrm>
            <a:off x="347662" y="2303585"/>
            <a:ext cx="4013323" cy="2990850"/>
          </a:xfrm>
          <a:prstGeom prst="rect">
            <a:avLst/>
          </a:prstGeom>
          <a:noFill/>
          <a:ln>
            <a:noFill/>
          </a:ln>
        </p:spPr>
      </p:pic>
      <p:sp>
        <p:nvSpPr>
          <p:cNvPr id="8" name="Rectangle 7"/>
          <p:cNvSpPr/>
          <p:nvPr/>
        </p:nvSpPr>
        <p:spPr>
          <a:xfrm>
            <a:off x="1399125" y="5521541"/>
            <a:ext cx="1910395" cy="369332"/>
          </a:xfrm>
          <a:prstGeom prst="rect">
            <a:avLst/>
          </a:prstGeom>
        </p:spPr>
        <p:txBody>
          <a:bodyPr wrap="none">
            <a:spAutoFit/>
          </a:bodyPr>
          <a:lstStyle/>
          <a:p>
            <a:r>
              <a:rPr lang="en-US" dirty="0">
                <a:solidFill>
                  <a:srgbClr val="C00000"/>
                </a:solidFill>
              </a:rPr>
              <a:t>Project in Real Life</a:t>
            </a:r>
          </a:p>
        </p:txBody>
      </p:sp>
      <p:pic>
        <p:nvPicPr>
          <p:cNvPr id="9" name="Picture 8" descr="Screenshot (402)"/>
          <p:cNvPicPr/>
          <p:nvPr/>
        </p:nvPicPr>
        <p:blipFill rotWithShape="1">
          <a:blip r:embed="rId3" cstate="print">
            <a:extLst>
              <a:ext uri="{28A0092B-C50C-407E-A947-70E740481C1C}">
                <a14:useLocalDpi xmlns:a14="http://schemas.microsoft.com/office/drawing/2010/main" val="0"/>
              </a:ext>
            </a:extLst>
          </a:blip>
          <a:srcRect l="6988"/>
          <a:stretch/>
        </p:blipFill>
        <p:spPr bwMode="auto">
          <a:xfrm>
            <a:off x="5002235" y="2303585"/>
            <a:ext cx="3744791" cy="2990850"/>
          </a:xfrm>
          <a:prstGeom prst="rect">
            <a:avLst/>
          </a:prstGeom>
          <a:noFill/>
          <a:ln>
            <a:noFill/>
          </a:ln>
        </p:spPr>
      </p:pic>
      <p:sp>
        <p:nvSpPr>
          <p:cNvPr id="11" name="Rectangle 10"/>
          <p:cNvSpPr/>
          <p:nvPr/>
        </p:nvSpPr>
        <p:spPr>
          <a:xfrm>
            <a:off x="5969703" y="5521541"/>
            <a:ext cx="1809854" cy="369332"/>
          </a:xfrm>
          <a:prstGeom prst="rect">
            <a:avLst/>
          </a:prstGeom>
        </p:spPr>
        <p:txBody>
          <a:bodyPr wrap="none">
            <a:spAutoFit/>
          </a:bodyPr>
          <a:lstStyle/>
          <a:p>
            <a:r>
              <a:rPr lang="en-US" dirty="0">
                <a:solidFill>
                  <a:srgbClr val="C00000"/>
                </a:solidFill>
              </a:rPr>
              <a:t>Main Server Data</a:t>
            </a:r>
          </a:p>
        </p:txBody>
      </p:sp>
    </p:spTree>
    <p:extLst>
      <p:ext uri="{BB962C8B-B14F-4D97-AF65-F5344CB8AC3E}">
        <p14:creationId xmlns:p14="http://schemas.microsoft.com/office/powerpoint/2010/main" val="8028262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8082C37-4991-E4E6-FC6A-8F2638EED621}"/>
              </a:ext>
            </a:extLst>
          </p:cNvPr>
          <p:cNvSpPr>
            <a:spLocks noGrp="1"/>
          </p:cNvSpPr>
          <p:nvPr>
            <p:ph type="title"/>
          </p:nvPr>
        </p:nvSpPr>
        <p:spPr>
          <a:xfrm>
            <a:off x="2236764" y="385377"/>
            <a:ext cx="5160206" cy="591320"/>
          </a:xfrm>
          <a:ln/>
        </p:spPr>
        <p:style>
          <a:lnRef idx="1">
            <a:schemeClr val="accent5"/>
          </a:lnRef>
          <a:fillRef idx="2">
            <a:schemeClr val="accent5"/>
          </a:fillRef>
          <a:effectRef idx="1">
            <a:schemeClr val="accent5"/>
          </a:effectRef>
          <a:fontRef idx="minor">
            <a:schemeClr val="dk1"/>
          </a:fontRef>
        </p:style>
        <p:txBody>
          <a:bodyPr>
            <a:noAutofit/>
          </a:bodyPr>
          <a:lstStyle/>
          <a:p>
            <a:pPr algn="ctr">
              <a:spcBef>
                <a:spcPts val="0"/>
              </a:spcBef>
            </a:pPr>
            <a:r>
              <a:rPr lang="en-US" sz="2800" dirty="0">
                <a:latin typeface="Times New Roman" panose="02020603050405020304" pitchFamily="18" charset="0"/>
                <a:cs typeface="Times New Roman" panose="02020603050405020304" pitchFamily="18" charset="0"/>
              </a:rPr>
              <a:t>Aim of the project</a:t>
            </a:r>
          </a:p>
        </p:txBody>
      </p:sp>
      <p:sp>
        <p:nvSpPr>
          <p:cNvPr id="3" name="Content Placeholder 2">
            <a:extLst>
              <a:ext uri="{FF2B5EF4-FFF2-40B4-BE49-F238E27FC236}">
                <a16:creationId xmlns:a16="http://schemas.microsoft.com/office/drawing/2014/main" id="{815C7B46-479E-225C-F5D1-CDE02D4356C3}"/>
              </a:ext>
            </a:extLst>
          </p:cNvPr>
          <p:cNvSpPr>
            <a:spLocks noGrp="1"/>
          </p:cNvSpPr>
          <p:nvPr>
            <p:ph idx="1"/>
          </p:nvPr>
        </p:nvSpPr>
        <p:spPr>
          <a:xfrm>
            <a:off x="240470" y="1508306"/>
            <a:ext cx="3390753" cy="4786986"/>
          </a:xfrm>
        </p:spPr>
        <p:txBody>
          <a:bodyPr>
            <a:normAutofit/>
          </a:bodyPr>
          <a:lstStyle/>
          <a:p>
            <a:pPr marL="0" indent="0" algn="just">
              <a:buNone/>
            </a:pPr>
            <a:r>
              <a:rPr lang="en-US" sz="1800" dirty="0"/>
              <a:t>This project aims to build a robust, intelligent system for continuous hospital patient monitoring using </a:t>
            </a:r>
            <a:r>
              <a:rPr lang="en-US" sz="1800" dirty="0" err="1"/>
              <a:t>IoT</a:t>
            </a:r>
            <a:r>
              <a:rPr lang="en-US" sz="1800" dirty="0"/>
              <a:t> and RFID. It strives to improve healthcare safety, reduce the nurse workload, and provide immediate alerts in emergencies. It also enables remote tracking and future AI </a:t>
            </a:r>
            <a:r>
              <a:rPr lang="en-US" sz="1800" dirty="0" smtClean="0"/>
              <a:t>integration. The </a:t>
            </a:r>
            <a:r>
              <a:rPr lang="en-US" sz="1800" dirty="0"/>
              <a:t>system uses secure data handling, </a:t>
            </a:r>
            <a:r>
              <a:rPr lang="en-US" sz="1800" dirty="0" smtClean="0"/>
              <a:t>central dashboards, and </a:t>
            </a:r>
            <a:r>
              <a:rPr lang="en-US" sz="1800" dirty="0"/>
              <a:t>automated controls for hospital room conditions, making it highly suitable for scalable deployment.</a:t>
            </a:r>
          </a:p>
        </p:txBody>
      </p:sp>
      <p:pic>
        <p:nvPicPr>
          <p:cNvPr id="8" name="Picture 7" descr="rfid-frequency"/>
          <p:cNvPicPr/>
          <p:nvPr/>
        </p:nvPicPr>
        <p:blipFill>
          <a:blip r:embed="rId2">
            <a:extLst>
              <a:ext uri="{28A0092B-C50C-407E-A947-70E740481C1C}">
                <a14:useLocalDpi xmlns:a14="http://schemas.microsoft.com/office/drawing/2010/main" val="0"/>
              </a:ext>
            </a:extLst>
          </a:blip>
          <a:srcRect/>
          <a:stretch>
            <a:fillRect/>
          </a:stretch>
        </p:blipFill>
        <p:spPr bwMode="auto">
          <a:xfrm>
            <a:off x="4088423" y="1318846"/>
            <a:ext cx="4343399" cy="2598805"/>
          </a:xfrm>
          <a:prstGeom prst="rect">
            <a:avLst/>
          </a:prstGeom>
          <a:noFill/>
          <a:ln>
            <a:noFill/>
          </a:ln>
        </p:spPr>
      </p:pic>
      <p:pic>
        <p:nvPicPr>
          <p:cNvPr id="9" name="Picture 8" descr="An-Intelligent-Real-Time-An-IoT-Based-System-for-Monitoring-ICU-Patient"/>
          <p:cNvPicPr/>
          <p:nvPr/>
        </p:nvPicPr>
        <p:blipFill>
          <a:blip r:embed="rId3">
            <a:extLst>
              <a:ext uri="{28A0092B-C50C-407E-A947-70E740481C1C}">
                <a14:useLocalDpi xmlns:a14="http://schemas.microsoft.com/office/drawing/2010/main" val="0"/>
              </a:ext>
            </a:extLst>
          </a:blip>
          <a:srcRect/>
          <a:stretch>
            <a:fillRect/>
          </a:stretch>
        </p:blipFill>
        <p:spPr bwMode="auto">
          <a:xfrm>
            <a:off x="4088423" y="4286983"/>
            <a:ext cx="4343399" cy="2008309"/>
          </a:xfrm>
          <a:prstGeom prst="rect">
            <a:avLst/>
          </a:prstGeom>
          <a:noFill/>
          <a:ln>
            <a:noFill/>
          </a:ln>
        </p:spPr>
      </p:pic>
      <p:sp>
        <p:nvSpPr>
          <p:cNvPr id="4" name="Rectangle 3"/>
          <p:cNvSpPr/>
          <p:nvPr/>
        </p:nvSpPr>
        <p:spPr>
          <a:xfrm>
            <a:off x="4771283" y="6295292"/>
            <a:ext cx="3035254" cy="369332"/>
          </a:xfrm>
          <a:prstGeom prst="rect">
            <a:avLst/>
          </a:prstGeom>
        </p:spPr>
        <p:txBody>
          <a:bodyPr wrap="none">
            <a:spAutoFit/>
          </a:bodyPr>
          <a:lstStyle/>
          <a:p>
            <a:r>
              <a:rPr lang="en-US" b="1" dirty="0" err="1">
                <a:solidFill>
                  <a:srgbClr val="C00000"/>
                </a:solidFill>
              </a:rPr>
              <a:t>IoT</a:t>
            </a:r>
            <a:r>
              <a:rPr lang="en-US" b="1" dirty="0">
                <a:solidFill>
                  <a:srgbClr val="C00000"/>
                </a:solidFill>
              </a:rPr>
              <a:t> Health Monitoring System</a:t>
            </a:r>
          </a:p>
        </p:txBody>
      </p:sp>
      <p:sp>
        <p:nvSpPr>
          <p:cNvPr id="10" name="Rectangle 9"/>
          <p:cNvSpPr/>
          <p:nvPr/>
        </p:nvSpPr>
        <p:spPr>
          <a:xfrm>
            <a:off x="5152924" y="3732985"/>
            <a:ext cx="2306081" cy="369332"/>
          </a:xfrm>
          <a:prstGeom prst="rect">
            <a:avLst/>
          </a:prstGeom>
        </p:spPr>
        <p:txBody>
          <a:bodyPr wrap="none">
            <a:spAutoFit/>
          </a:bodyPr>
          <a:lstStyle/>
          <a:p>
            <a:r>
              <a:rPr lang="en-US" b="1" dirty="0">
                <a:solidFill>
                  <a:srgbClr val="C00000"/>
                </a:solidFill>
              </a:rPr>
              <a:t>RFID Frequency Bands</a:t>
            </a:r>
          </a:p>
        </p:txBody>
      </p:sp>
    </p:spTree>
    <p:extLst>
      <p:ext uri="{BB962C8B-B14F-4D97-AF65-F5344CB8AC3E}">
        <p14:creationId xmlns:p14="http://schemas.microsoft.com/office/powerpoint/2010/main" val="38096481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3C6CF2-241A-A6D5-EA02-74982B22B6DA}"/>
              </a:ext>
            </a:extLst>
          </p:cNvPr>
          <p:cNvSpPr>
            <a:spLocks noGrp="1"/>
          </p:cNvSpPr>
          <p:nvPr>
            <p:ph type="title"/>
          </p:nvPr>
        </p:nvSpPr>
        <p:spPr>
          <a:xfrm>
            <a:off x="2324949" y="260957"/>
            <a:ext cx="4885886" cy="549116"/>
          </a:xfrm>
          <a:ln/>
        </p:spPr>
        <p:style>
          <a:lnRef idx="1">
            <a:schemeClr val="accent5"/>
          </a:lnRef>
          <a:fillRef idx="2">
            <a:schemeClr val="accent5"/>
          </a:fillRef>
          <a:effectRef idx="1">
            <a:schemeClr val="accent5"/>
          </a:effectRef>
          <a:fontRef idx="minor">
            <a:schemeClr val="dk1"/>
          </a:fontRef>
        </p:style>
        <p:txBody>
          <a:bodyPr>
            <a:noAutofit/>
          </a:bodyPr>
          <a:lstStyle/>
          <a:p>
            <a:pPr algn="ctr"/>
            <a:r>
              <a:rPr lang="en-US" sz="3200" dirty="0">
                <a:latin typeface="Times New Roman" panose="02020603050405020304" pitchFamily="18" charset="0"/>
                <a:cs typeface="Times New Roman" panose="02020603050405020304" pitchFamily="18" charset="0"/>
              </a:rPr>
              <a:t>Future work </a:t>
            </a:r>
            <a:endParaRPr lang="en-US" sz="3200" dirty="0"/>
          </a:p>
        </p:txBody>
      </p:sp>
      <p:sp>
        <p:nvSpPr>
          <p:cNvPr id="3" name="Content Placeholder 2">
            <a:extLst>
              <a:ext uri="{FF2B5EF4-FFF2-40B4-BE49-F238E27FC236}">
                <a16:creationId xmlns:a16="http://schemas.microsoft.com/office/drawing/2014/main" id="{E796D6F4-A6F8-AE5B-3B44-EA2E60A2BCFE}"/>
              </a:ext>
            </a:extLst>
          </p:cNvPr>
          <p:cNvSpPr>
            <a:spLocks noGrp="1"/>
          </p:cNvSpPr>
          <p:nvPr>
            <p:ph idx="1"/>
          </p:nvPr>
        </p:nvSpPr>
        <p:spPr>
          <a:xfrm>
            <a:off x="225383" y="936810"/>
            <a:ext cx="8769148" cy="2272384"/>
          </a:xfrm>
        </p:spPr>
        <p:txBody>
          <a:bodyPr>
            <a:noAutofit/>
          </a:bodyPr>
          <a:lstStyle/>
          <a:p>
            <a:pPr marL="0" indent="0" algn="just">
              <a:lnSpc>
                <a:spcPct val="100000"/>
              </a:lnSpc>
              <a:buNone/>
            </a:pPr>
            <a:r>
              <a:rPr lang="en-US" sz="1600" dirty="0"/>
              <a:t>Future development will include integrating artificial intelligence for predictive analytics, detecting disease risks early. A mobile app will allow caregivers real-time access and alerts. Additional sensors will monitor glucose levels and respiratory activity. </a:t>
            </a:r>
            <a:r>
              <a:rPr lang="en-US" sz="1600" dirty="0" err="1"/>
              <a:t>Blockchain</a:t>
            </a:r>
            <a:r>
              <a:rPr lang="en-US" sz="1600" dirty="0"/>
              <a:t> may be used to secure health data, and energy-efficient </a:t>
            </a:r>
            <a:r>
              <a:rPr lang="en-US" sz="1600" dirty="0" err="1"/>
              <a:t>IoT</a:t>
            </a:r>
            <a:r>
              <a:rPr lang="en-US" sz="1600" dirty="0"/>
              <a:t> devices will reduce operational costs. The system could also support telemedicine, scale across multiple hospitals, and be refined through real-world clinical feedback.</a:t>
            </a:r>
            <a:endParaRPr lang="en-US" sz="1600" b="1" dirty="0"/>
          </a:p>
        </p:txBody>
      </p:sp>
      <p:sp>
        <p:nvSpPr>
          <p:cNvPr id="7" name="Rectangle 2"/>
          <p:cNvSpPr>
            <a:spLocks noChangeArrowheads="1"/>
          </p:cNvSpPr>
          <p:nvPr/>
        </p:nvSpPr>
        <p:spPr bwMode="auto">
          <a:xfrm>
            <a:off x="225383" y="2326793"/>
            <a:ext cx="876914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C00000"/>
                </a:solidFill>
                <a:effectLst/>
                <a:latin typeface="Calibri" panose="020F0502020204030204" pitchFamily="34" charset="0"/>
                <a:cs typeface="Calibri" panose="020F0502020204030204" pitchFamily="34" charset="0"/>
              </a:rPr>
              <a:t>AI-Powered Health Prediction</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Integrate machine learning algorithms to analyze historical health data for predicting critical events like cardiac arrest, enabling proactive care.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C00000"/>
                </a:solidFill>
                <a:effectLst/>
                <a:latin typeface="Calibri" panose="020F0502020204030204" pitchFamily="34" charset="0"/>
                <a:cs typeface="Calibri" panose="020F0502020204030204" pitchFamily="34" charset="0"/>
              </a:rPr>
              <a:t>Mobile App for Caregivers</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Develop a cross-platform mobile application for real-time patient monitoring, notifications, and location tracking for doctors and family.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C00000"/>
                </a:solidFill>
                <a:effectLst/>
                <a:latin typeface="Calibri" panose="020F0502020204030204" pitchFamily="34" charset="0"/>
                <a:cs typeface="Calibri" panose="020F0502020204030204" pitchFamily="34" charset="0"/>
              </a:rPr>
              <a:t>Expanded Sensor Suite</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Add sensors for glucose monitoring, respiratory rate, and ECG patterns to support a broader range of chronic disease monitoring.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smtClean="0">
                <a:ln>
                  <a:noFill/>
                </a:ln>
                <a:solidFill>
                  <a:srgbClr val="C00000"/>
                </a:solidFill>
                <a:effectLst/>
                <a:latin typeface="Calibri" panose="020F0502020204030204" pitchFamily="34" charset="0"/>
                <a:cs typeface="Calibri" panose="020F0502020204030204" pitchFamily="34" charset="0"/>
              </a:rPr>
              <a:t>Blockchain</a:t>
            </a:r>
            <a:r>
              <a:rPr kumimoji="0" lang="en-US" altLang="en-US" sz="1600" b="1" i="0" u="none" strike="noStrike" cap="none" normalizeH="0" baseline="0" dirty="0" smtClean="0">
                <a:ln>
                  <a:noFill/>
                </a:ln>
                <a:solidFill>
                  <a:srgbClr val="C00000"/>
                </a:solidFill>
                <a:effectLst/>
                <a:latin typeface="Calibri" panose="020F0502020204030204" pitchFamily="34" charset="0"/>
                <a:cs typeface="Calibri" panose="020F0502020204030204" pitchFamily="34" charset="0"/>
              </a:rPr>
              <a:t> Security</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Use </a:t>
            </a:r>
            <a:r>
              <a:rPr kumimoji="0" lang="en-US" altLang="en-US" sz="1600" b="0" i="0" u="none" strike="noStrike" cap="none" normalizeH="0" baseline="0" dirty="0" err="1" smtClean="0">
                <a:ln>
                  <a:noFill/>
                </a:ln>
                <a:solidFill>
                  <a:schemeClr val="tx1"/>
                </a:solidFill>
                <a:effectLst/>
                <a:latin typeface="Calibri" panose="020F0502020204030204" pitchFamily="34" charset="0"/>
                <a:cs typeface="Calibri" panose="020F0502020204030204" pitchFamily="34" charset="0"/>
              </a:rPr>
              <a:t>blockchain</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to ensure tamper-proof, decentralized storage of sensitive patient data, enhancing data trust and traceability.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C00000"/>
                </a:solidFill>
                <a:effectLst/>
                <a:latin typeface="Calibri" panose="020F0502020204030204" pitchFamily="34" charset="0"/>
                <a:cs typeface="Calibri" panose="020F0502020204030204" pitchFamily="34" charset="0"/>
              </a:rPr>
              <a:t>Scalable Multi-Hospital Deployment</a:t>
            </a: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
            </a:r>
            <a:b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br>
            <a:r>
              <a:rPr kumimoji="0" lang="en-US" altLang="en-US" sz="1600"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rPr>
              <a:t>Optimize the system architecture for large-scale deployment across hospitals, enabling seamless integration and feedback-based improvements.</a:t>
            </a:r>
          </a:p>
        </p:txBody>
      </p:sp>
    </p:spTree>
    <p:extLst>
      <p:ext uri="{BB962C8B-B14F-4D97-AF65-F5344CB8AC3E}">
        <p14:creationId xmlns:p14="http://schemas.microsoft.com/office/powerpoint/2010/main" val="816355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187</TotalTime>
  <Words>634</Words>
  <Application>Microsoft Office PowerPoint</Application>
  <PresentationFormat>On-screen Show (4:3)</PresentationFormat>
  <Paragraphs>42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Calibri Light</vt:lpstr>
      <vt:lpstr>Times New Roman</vt:lpstr>
      <vt:lpstr>Office Theme</vt:lpstr>
      <vt:lpstr>Outline </vt:lpstr>
      <vt:lpstr>Introduction </vt:lpstr>
      <vt:lpstr>Objective </vt:lpstr>
      <vt:lpstr>Main Problem of the Project</vt:lpstr>
      <vt:lpstr>Suggestion to Solve the Problem</vt:lpstr>
      <vt:lpstr>Results</vt:lpstr>
      <vt:lpstr>Aim of the project</vt:lpstr>
      <vt:lpstr>Future work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AL-NOOR</dc:creator>
  <cp:lastModifiedBy>JAFAR SALIM</cp:lastModifiedBy>
  <cp:revision>19</cp:revision>
  <dcterms:created xsi:type="dcterms:W3CDTF">2024-12-24T08:26:56Z</dcterms:created>
  <dcterms:modified xsi:type="dcterms:W3CDTF">2025-09-28T22:12:26Z</dcterms:modified>
</cp:coreProperties>
</file>